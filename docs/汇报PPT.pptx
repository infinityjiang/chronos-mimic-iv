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9" r:id="rId4"/>
    <p:sldId id="280" r:id="rId5"/>
    <p:sldId id="281" r:id="rId6"/>
    <p:sldId id="282" r:id="rId7"/>
    <p:sldId id="283" r:id="rId8"/>
    <p:sldId id="284" r:id="rId9"/>
    <p:sldId id="286" r:id="rId10"/>
    <p:sldId id="291" r:id="rId11"/>
    <p:sldId id="294" r:id="rId12"/>
    <p:sldId id="295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264C"/>
    <a:srgbClr val="384F6E"/>
    <a:srgbClr val="F2F4C1"/>
    <a:srgbClr val="76A5AF"/>
    <a:srgbClr val="45818E"/>
    <a:srgbClr val="A2C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96" autoAdjust="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B9C67-C11A-4080-A04D-4A30351206B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13908-AB63-41A2-ABA9-0D7A6E6BBC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13908-AB63-41A2-ABA9-0D7A6E6BBC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66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2C393-9507-4B2F-9B59-092719BE54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2C393-9507-4B2F-9B59-092719BE54B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2C393-9507-4B2F-9B59-092719BE54B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2C393-9507-4B2F-9B59-092719BE54B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2C393-9507-4B2F-9B59-092719BE54B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732BF-F095-4E9B-8F6D-9CC33E45730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1E02A-4908-4176-B3F5-B91ABE1045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91345" y="359232"/>
            <a:ext cx="978447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" panose="02020603050405020304" pitchFamily="18" charset="0"/>
              </a:rPr>
              <a:t>NUIST</a:t>
            </a:r>
            <a:endParaRPr lang="en-US" sz="26000" b="1" dirty="0">
              <a:solidFill>
                <a:schemeClr val="accent3">
                  <a:lumMod val="20000"/>
                  <a:lumOff val="8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-9625"/>
            <a:ext cx="12192000" cy="330009"/>
          </a:xfrm>
          <a:prstGeom prst="rect">
            <a:avLst/>
          </a:prstGeom>
          <a:solidFill>
            <a:srgbClr val="0A2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0" y="395322"/>
            <a:ext cx="79828" cy="537029"/>
          </a:xfrm>
          <a:prstGeom prst="rect">
            <a:avLst/>
          </a:prstGeom>
          <a:solidFill>
            <a:srgbClr val="0A264C"/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166914" y="395321"/>
            <a:ext cx="10428515" cy="537029"/>
          </a:xfrm>
          <a:prstGeom prst="rect">
            <a:avLst/>
          </a:prstGeom>
          <a:gradFill>
            <a:gsLst>
              <a:gs pos="0">
                <a:srgbClr val="0A264C"/>
              </a:gs>
              <a:gs pos="65000">
                <a:schemeClr val="bg1"/>
              </a:gs>
              <a:gs pos="100000">
                <a:schemeClr val="bg1"/>
              </a:gs>
              <a:gs pos="100000">
                <a:srgbClr val="FFFFFF"/>
              </a:gs>
              <a:gs pos="100000">
                <a:schemeClr val="bg1"/>
              </a:gs>
              <a:gs pos="84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-1" y="6380697"/>
            <a:ext cx="12192000" cy="484738"/>
          </a:xfrm>
          <a:prstGeom prst="rect">
            <a:avLst/>
          </a:prstGeom>
          <a:solidFill>
            <a:srgbClr val="0A2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39914" y="6430558"/>
            <a:ext cx="3516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明德格物    立己达人</a:t>
            </a:r>
            <a:endParaRPr lang="en-US" sz="20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10497" y="6387953"/>
            <a:ext cx="6565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Times" panose="02020603050405020304" pitchFamily="18" charset="0"/>
                <a:ea typeface="华文行楷" panose="02010800040101010101" pitchFamily="2" charset="-122"/>
                <a:cs typeface="Times" panose="02020603050405020304" pitchFamily="18" charset="0"/>
              </a:rPr>
              <a:t>Nanjing University of Information Science &amp; Technology</a:t>
            </a:r>
            <a:endParaRPr lang="en-US" sz="2000" b="1" dirty="0">
              <a:solidFill>
                <a:schemeClr val="bg1"/>
              </a:solidFill>
              <a:latin typeface="Times" panose="02020603050405020304" pitchFamily="18" charset="0"/>
              <a:ea typeface="华文行楷" panose="02010800040101010101" pitchFamily="2" charset="-122"/>
              <a:cs typeface="Times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3111" y="1102993"/>
            <a:ext cx="73716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Chronos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时序大模型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的时序医疗诊断模型</a:t>
            </a:r>
            <a:endParaRPr lang="en-US" sz="4400" b="1" dirty="0"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</p:txBody>
      </p:sp>
      <p:pic>
        <p:nvPicPr>
          <p:cNvPr id="13" name="Picture 4" descr="南京信息工程大学是双一流么？ - 知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7" t="19247" r="-297" b="28139"/>
          <a:stretch>
            <a:fillRect/>
          </a:stretch>
        </p:blipFill>
        <p:spPr bwMode="auto">
          <a:xfrm>
            <a:off x="-100644" y="3585667"/>
            <a:ext cx="12292643" cy="2877011"/>
          </a:xfrm>
          <a:prstGeom prst="rect">
            <a:avLst/>
          </a:prstGeom>
          <a:noFill/>
          <a:effectLst>
            <a:softEdge rad="1016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1971345" y="2610341"/>
            <a:ext cx="720000" cy="720000"/>
          </a:xfrm>
          <a:prstGeom prst="rect">
            <a:avLst/>
          </a:prstGeom>
          <a:noFill/>
          <a:ln w="7620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/>
          <p:cNvSpPr/>
          <p:nvPr/>
        </p:nvSpPr>
        <p:spPr>
          <a:xfrm>
            <a:off x="2511345" y="3175221"/>
            <a:ext cx="360000" cy="360000"/>
          </a:xfrm>
          <a:prstGeom prst="rect">
            <a:avLst/>
          </a:prstGeom>
          <a:noFill/>
          <a:ln w="571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11023" y="2140364"/>
            <a:ext cx="3556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-----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时序电子病历数据分析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810848" y="2643742"/>
            <a:ext cx="7498866" cy="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53000">
                  <a:srgbClr val="0A264C">
                    <a:lumMod val="98000"/>
                  </a:srgbClr>
                </a:gs>
                <a:gs pos="100000">
                  <a:schemeClr val="bg1"/>
                </a:gs>
              </a:gsLst>
              <a:lin ang="0" scaled="0"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剪去单角 26"/>
          <p:cNvSpPr/>
          <p:nvPr/>
        </p:nvSpPr>
        <p:spPr>
          <a:xfrm rot="10800000">
            <a:off x="8868632" y="-8694"/>
            <a:ext cx="3338093" cy="664994"/>
          </a:xfrm>
          <a:prstGeom prst="snip1Rect">
            <a:avLst>
              <a:gd name="adj" fmla="val 50000"/>
            </a:avLst>
          </a:prstGeom>
          <a:solidFill>
            <a:srgbClr val="0A264C"/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43" descr="南京信息工程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532" y="36902"/>
            <a:ext cx="2651794" cy="605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0" y="2335129"/>
            <a:ext cx="2079057" cy="731520"/>
            <a:chOff x="0" y="1950118"/>
            <a:chExt cx="2079057" cy="731520"/>
          </a:xfrm>
        </p:grpSpPr>
        <p:sp>
          <p:nvSpPr>
            <p:cNvPr id="11" name="箭头: 五边形 10"/>
            <p:cNvSpPr/>
            <p:nvPr/>
          </p:nvSpPr>
          <p:spPr>
            <a:xfrm>
              <a:off x="0" y="1950118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57049" y="2066950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任务介绍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826619" y="155898"/>
            <a:ext cx="72863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  <a:cs typeface="Times" panose="02020603050405020304"/>
              </a:rPr>
              <a:t>数据预处理以及任务目标</a:t>
            </a:r>
            <a:endParaRPr lang="en-US" sz="3200" b="1" dirty="0">
              <a:latin typeface="华文中宋" panose="02010600040101010101" pitchFamily="2" charset="-122"/>
              <a:ea typeface="华文中宋" panose="02010600040101010101" pitchFamily="2" charset="-122"/>
              <a:cs typeface="Times" panose="02020603050405020304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A53C5EC-76AC-0852-9974-1171DF58BE40}"/>
              </a:ext>
            </a:extLst>
          </p:cNvPr>
          <p:cNvGrpSpPr/>
          <p:nvPr/>
        </p:nvGrpSpPr>
        <p:grpSpPr>
          <a:xfrm>
            <a:off x="7295171" y="2195186"/>
            <a:ext cx="4677335" cy="1246573"/>
            <a:chOff x="7295171" y="1871095"/>
            <a:chExt cx="4677335" cy="1246573"/>
          </a:xfrm>
        </p:grpSpPr>
        <p:sp useBgFill="1">
          <p:nvSpPr>
            <p:cNvPr id="67" name="矩形: 圆角 25"/>
            <p:cNvSpPr/>
            <p:nvPr>
              <p:custDataLst>
                <p:tags r:id="rId6"/>
              </p:custDataLst>
            </p:nvPr>
          </p:nvSpPr>
          <p:spPr>
            <a:xfrm>
              <a:off x="7295171" y="1871095"/>
              <a:ext cx="4677335" cy="1246573"/>
            </a:xfrm>
            <a:prstGeom prst="roundRect">
              <a:avLst/>
            </a:prstGeom>
            <a:ln w="3175" cap="flat" cmpd="sng" algn="ctr">
              <a:solidFill>
                <a:srgbClr val="384F6E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0" dist="508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lIns="0" rIns="0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 useBgFill="1">
          <p:nvSpPr>
            <p:cNvPr id="68" name="矩形: 圆角 25"/>
            <p:cNvSpPr/>
            <p:nvPr>
              <p:custDataLst>
                <p:tags r:id="rId7"/>
              </p:custDataLst>
            </p:nvPr>
          </p:nvSpPr>
          <p:spPr>
            <a:xfrm>
              <a:off x="7295171" y="1871095"/>
              <a:ext cx="4677335" cy="1246573"/>
            </a:xfrm>
            <a:prstGeom prst="roundRect">
              <a:avLst/>
            </a:prstGeom>
            <a:solidFill>
              <a:schemeClr val="lt1">
                <a:lumMod val="100000"/>
                <a:alpha val="20000"/>
              </a:schemeClr>
            </a:solidFill>
            <a:ln w="3175" cap="flat" cmpd="sng" algn="ctr">
              <a:solidFill>
                <a:srgbClr val="384F6E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78" name="椭圆 77"/>
            <p:cNvSpPr/>
            <p:nvPr>
              <p:custDataLst>
                <p:tags r:id="rId8"/>
              </p:custDataLst>
            </p:nvPr>
          </p:nvSpPr>
          <p:spPr>
            <a:xfrm>
              <a:off x="7538488" y="2229846"/>
              <a:ext cx="529072" cy="529072"/>
            </a:xfrm>
            <a:prstGeom prst="ellipse">
              <a:avLst/>
            </a:prstGeom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lumMod val="75000"/>
                    <a:alpha val="100000"/>
                  </a:schemeClr>
                </a:gs>
              </a:gsLst>
              <a:lin ang="7686814" scaled="0"/>
            </a:gradFill>
            <a:ln w="25400">
              <a:solidFill>
                <a:srgbClr val="384F6E"/>
              </a:solidFill>
            </a:ln>
            <a:effectLst>
              <a:outerShdw blurRad="254000" dist="76200" dir="5399998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dirty="0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</a:rPr>
                <a:t>01</a:t>
              </a:r>
            </a:p>
          </p:txBody>
        </p:sp>
        <p:sp>
          <p:nvSpPr>
            <p:cNvPr id="79" name="矩形 78"/>
            <p:cNvSpPr/>
            <p:nvPr>
              <p:custDataLst>
                <p:tags r:id="rId9"/>
              </p:custDataLst>
            </p:nvPr>
          </p:nvSpPr>
          <p:spPr>
            <a:xfrm>
              <a:off x="8288808" y="2376967"/>
              <a:ext cx="3405016" cy="6569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标签：患者是否死亡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二分类，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0=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存活，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1=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死亡</a:t>
              </a:r>
            </a:p>
          </p:txBody>
        </p:sp>
        <p:sp>
          <p:nvSpPr>
            <p:cNvPr id="80" name="矩形 79"/>
            <p:cNvSpPr/>
            <p:nvPr>
              <p:custDataLst>
                <p:tags r:id="rId10"/>
              </p:custDataLst>
            </p:nvPr>
          </p:nvSpPr>
          <p:spPr>
            <a:xfrm>
              <a:off x="8288808" y="1954276"/>
              <a:ext cx="3405016" cy="4091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 anchorCtr="0">
              <a:no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rPr>
                <a:t>死亡率</a:t>
              </a:r>
              <a:endPara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BA8532E-1E96-5E1F-6CCF-BE7816471B89}"/>
              </a:ext>
            </a:extLst>
          </p:cNvPr>
          <p:cNvGrpSpPr/>
          <p:nvPr/>
        </p:nvGrpSpPr>
        <p:grpSpPr>
          <a:xfrm>
            <a:off x="7295171" y="4165245"/>
            <a:ext cx="4677335" cy="1246573"/>
            <a:chOff x="7295171" y="4767127"/>
            <a:chExt cx="4677335" cy="1246573"/>
          </a:xfrm>
        </p:grpSpPr>
        <p:sp useBgFill="1">
          <p:nvSpPr>
            <p:cNvPr id="63" name="矩形: 圆角 35"/>
            <p:cNvSpPr/>
            <p:nvPr>
              <p:custDataLst>
                <p:tags r:id="rId1"/>
              </p:custDataLst>
            </p:nvPr>
          </p:nvSpPr>
          <p:spPr>
            <a:xfrm>
              <a:off x="7295171" y="4767127"/>
              <a:ext cx="4677335" cy="1246573"/>
            </a:xfrm>
            <a:prstGeom prst="roundRect">
              <a:avLst/>
            </a:prstGeom>
            <a:ln w="3175" cap="flat" cmpd="sng" algn="ctr">
              <a:solidFill>
                <a:srgbClr val="384F6E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0" dist="508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lIns="0" rIns="0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 useBgFill="1">
          <p:nvSpPr>
            <p:cNvPr id="64" name="矩形: 圆角 25"/>
            <p:cNvSpPr/>
            <p:nvPr>
              <p:custDataLst>
                <p:tags r:id="rId2"/>
              </p:custDataLst>
            </p:nvPr>
          </p:nvSpPr>
          <p:spPr>
            <a:xfrm>
              <a:off x="7295171" y="4767127"/>
              <a:ext cx="4677335" cy="1246573"/>
            </a:xfrm>
            <a:prstGeom prst="roundRect">
              <a:avLst/>
            </a:prstGeom>
            <a:solidFill>
              <a:schemeClr val="lt1">
                <a:lumMod val="100000"/>
                <a:alpha val="20000"/>
              </a:schemeClr>
            </a:solidFill>
            <a:ln w="3175" cap="flat" cmpd="sng" algn="ctr">
              <a:solidFill>
                <a:srgbClr val="384F6E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84" name="椭圆 83"/>
            <p:cNvSpPr/>
            <p:nvPr>
              <p:custDataLst>
                <p:tags r:id="rId3"/>
              </p:custDataLst>
            </p:nvPr>
          </p:nvSpPr>
          <p:spPr>
            <a:xfrm>
              <a:off x="7538488" y="5125878"/>
              <a:ext cx="529072" cy="529072"/>
            </a:xfrm>
            <a:prstGeom prst="ellipse">
              <a:avLst/>
            </a:prstGeom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lumMod val="75000"/>
                    <a:alpha val="100000"/>
                  </a:schemeClr>
                </a:gs>
              </a:gsLst>
              <a:lin ang="7686814" scaled="0"/>
            </a:gradFill>
            <a:ln w="25400">
              <a:solidFill>
                <a:srgbClr val="384F6E"/>
              </a:solidFill>
            </a:ln>
            <a:effectLst>
              <a:outerShdw blurRad="254000" dist="76200" dir="5399998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none" lIns="0" tIns="0" rIns="0" bIns="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dirty="0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</a:rPr>
                <a:t>02</a:t>
              </a:r>
            </a:p>
          </p:txBody>
        </p:sp>
        <p:sp>
          <p:nvSpPr>
            <p:cNvPr id="85" name="矩形 84"/>
            <p:cNvSpPr/>
            <p:nvPr>
              <p:custDataLst>
                <p:tags r:id="rId4"/>
              </p:custDataLst>
            </p:nvPr>
          </p:nvSpPr>
          <p:spPr>
            <a:xfrm>
              <a:off x="8288808" y="5272999"/>
              <a:ext cx="3405016" cy="6569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标签：患者是否长时间住院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二分类，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0=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短期（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≤7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天），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1=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长期（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&gt;7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天）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  <p:sp>
          <p:nvSpPr>
            <p:cNvPr id="86" name="矩形 85"/>
            <p:cNvSpPr/>
            <p:nvPr>
              <p:custDataLst>
                <p:tags r:id="rId5"/>
              </p:custDataLst>
            </p:nvPr>
          </p:nvSpPr>
          <p:spPr>
            <a:xfrm>
              <a:off x="8288808" y="4850307"/>
              <a:ext cx="3405017" cy="4091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 anchorCtr="0">
              <a:no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住院时长</a:t>
              </a:r>
            </a:p>
          </p:txBody>
        </p:sp>
      </p:grpSp>
      <p:sp>
        <p:nvSpPr>
          <p:cNvPr id="87" name="矩形: 圆角 18"/>
          <p:cNvSpPr/>
          <p:nvPr/>
        </p:nvSpPr>
        <p:spPr>
          <a:xfrm>
            <a:off x="7296086" y="1024255"/>
            <a:ext cx="4675505" cy="515620"/>
          </a:xfrm>
          <a:prstGeom prst="roundRect">
            <a:avLst>
              <a:gd name="adj" fmla="val 50000"/>
            </a:avLst>
          </a:prstGeom>
          <a:solidFill>
            <a:srgbClr val="0A2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思源黑体" panose="020B0800000000000000" pitchFamily="34" charset="-122"/>
                <a:ea typeface="思源黑体" panose="020B0800000000000000" pitchFamily="34" charset="-122"/>
              </a:rPr>
              <a:t>任务目标</a:t>
            </a:r>
          </a:p>
        </p:txBody>
      </p:sp>
      <p:sp>
        <p:nvSpPr>
          <p:cNvPr id="16" name="矩形: 圆角 18">
            <a:extLst>
              <a:ext uri="{FF2B5EF4-FFF2-40B4-BE49-F238E27FC236}">
                <a16:creationId xmlns:a16="http://schemas.microsoft.com/office/drawing/2014/main" id="{3F7ED6F5-4573-F880-5268-E74FC2F2C207}"/>
              </a:ext>
            </a:extLst>
          </p:cNvPr>
          <p:cNvSpPr/>
          <p:nvPr/>
        </p:nvSpPr>
        <p:spPr>
          <a:xfrm>
            <a:off x="2079057" y="1074453"/>
            <a:ext cx="4675505" cy="515620"/>
          </a:xfrm>
          <a:prstGeom prst="roundRect">
            <a:avLst>
              <a:gd name="adj" fmla="val 50000"/>
            </a:avLst>
          </a:prstGeom>
          <a:solidFill>
            <a:srgbClr val="0A2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思源黑体" panose="020B0800000000000000" pitchFamily="34" charset="-122"/>
                <a:ea typeface="思源黑体" panose="020B0800000000000000" pitchFamily="34" charset="-122"/>
              </a:rPr>
              <a:t>数据集：</a:t>
            </a:r>
            <a:r>
              <a:rPr lang="en-US" altLang="zh-CN" sz="2400" b="1" dirty="0">
                <a:latin typeface="思源黑体" panose="020B0800000000000000" pitchFamily="34" charset="-122"/>
                <a:ea typeface="思源黑体" panose="020B0800000000000000" pitchFamily="34" charset="-122"/>
              </a:rPr>
              <a:t>MIMIC-IV</a:t>
            </a:r>
            <a:endParaRPr lang="zh-CN" altLang="en-US" sz="2400" b="1" dirty="0">
              <a:latin typeface="思源黑体" panose="020B0800000000000000" pitchFamily="34" charset="-122"/>
              <a:ea typeface="思源黑体" panose="020B0800000000000000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32DA0CA-6FB8-BB4C-826F-745C53D82CC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61638" b="9061"/>
          <a:stretch>
            <a:fillRect/>
          </a:stretch>
        </p:blipFill>
        <p:spPr>
          <a:xfrm>
            <a:off x="2430205" y="2872715"/>
            <a:ext cx="3921650" cy="3173997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ED426F68-D313-2FA5-3824-FE531D45AE43}"/>
              </a:ext>
            </a:extLst>
          </p:cNvPr>
          <p:cNvSpPr txBox="1"/>
          <p:nvPr/>
        </p:nvSpPr>
        <p:spPr>
          <a:xfrm>
            <a:off x="2088682" y="1706032"/>
            <a:ext cx="46658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规模最大的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ICU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公共数据库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多种多模态数据表格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所有使用的数据表格如下所示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" name="图片 15" descr="图示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838" y="1497768"/>
            <a:ext cx="8826497" cy="35227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 rot="10800000" flipV="1">
            <a:off x="2343751" y="5405883"/>
            <a:ext cx="9579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处理流程：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时序信息 → 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token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序列 → 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T5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大语言模型 → 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token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序列 → 时序信息</a:t>
            </a:r>
          </a:p>
          <a:p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3458" y="196091"/>
            <a:ext cx="413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Chronos</a:t>
            </a:r>
            <a:r>
              <a:rPr lang="zh-CN" altLang="en-US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912819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 rot="10800000" flipV="1">
            <a:off x="2343751" y="829754"/>
            <a:ext cx="8469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时序数据转化为</a:t>
            </a:r>
            <a:r>
              <a:rPr lang="en-US" altLang="zh-CN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token</a:t>
            </a:r>
            <a:r>
              <a:rPr lang="zh-CN" altLang="en-US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的具体流程</a:t>
            </a:r>
            <a:endParaRPr lang="en-US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进行尺度缩放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对尺度缩放后的值进行分箱，采用分箱编号代表所求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两种特殊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token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PAD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padding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，用于补齐长度或表示缺失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EOS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end-of-sequence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，序列结束标志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3.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分箱完毕后，直接采用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T5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大模型进行训练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直接采用语言大模型的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next-token prediction 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的交叉熵训练方式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4.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采用自回归的方式进行多步预测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可以通过采样的方式生成多种不同的未来序列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5.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在得到预测结果后，采用每个分箱的均值作为预测结果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111" y="1313107"/>
            <a:ext cx="1657581" cy="80021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515" y="1408371"/>
            <a:ext cx="905001" cy="7049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5090" y="2422942"/>
            <a:ext cx="3041234" cy="148884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904" y="5267384"/>
            <a:ext cx="1276528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rot="10800000" flipV="1">
            <a:off x="2343751" y="795216"/>
            <a:ext cx="848609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TSMix</a:t>
            </a:r>
            <a:endParaRPr lang="en-US" altLang="zh-CN" sz="32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endParaRPr lang="en-US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计算机视觉领域</a:t>
            </a:r>
            <a:r>
              <a:rPr lang="en-US" altLang="zh-CN" sz="2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mixup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→ 时序数据邻域</a:t>
            </a:r>
            <a:r>
              <a:rPr lang="en-US" altLang="zh-CN" sz="2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mixup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572" y="2165506"/>
            <a:ext cx="6124259" cy="46213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188" y="2680425"/>
            <a:ext cx="3610479" cy="137179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142188" y="4756921"/>
            <a:ext cx="39963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数据加权组合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时序数据多样化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43751" y="811288"/>
            <a:ext cx="3742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KernelSynth</a:t>
            </a:r>
            <a:endParaRPr lang="en-US" altLang="zh-CN" sz="28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261" y="1334508"/>
            <a:ext cx="8471511" cy="3389813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079057" y="4724321"/>
            <a:ext cx="98011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KernelSynth</a:t>
            </a:r>
            <a:r>
              <a:rPr lang="zh-CN" altLang="zh-CN" sz="2400" b="1" dirty="0"/>
              <a:t>实施步骤</a:t>
            </a:r>
            <a:endParaRPr lang="zh-CN" altLang="zh-CN" sz="2400" dirty="0"/>
          </a:p>
          <a:p>
            <a:pPr lvl="0"/>
            <a:r>
              <a:rPr lang="en-US" altLang="zh-CN" sz="2400" b="1" dirty="0"/>
              <a:t>1. </a:t>
            </a:r>
            <a:r>
              <a:rPr lang="zh-CN" altLang="zh-CN" sz="2400" b="1" dirty="0"/>
              <a:t>核函数采样</a:t>
            </a:r>
            <a:r>
              <a:rPr lang="zh-CN" altLang="en-US" sz="2400" b="1" dirty="0"/>
              <a:t>：</a:t>
            </a:r>
            <a:r>
              <a:rPr lang="zh-CN" altLang="zh-CN" sz="2400" dirty="0"/>
              <a:t>随机</a:t>
            </a:r>
            <a:r>
              <a:rPr lang="zh-CN" altLang="en-US" sz="2400" dirty="0"/>
              <a:t>采样</a:t>
            </a:r>
            <a:endParaRPr lang="zh-CN" altLang="zh-CN" sz="2400" dirty="0"/>
          </a:p>
          <a:p>
            <a:pPr lvl="0"/>
            <a:r>
              <a:rPr lang="en-US" altLang="zh-CN" sz="2400" b="1" dirty="0"/>
              <a:t>2. </a:t>
            </a:r>
            <a:r>
              <a:rPr lang="zh-CN" altLang="zh-CN" sz="2400" b="1" dirty="0"/>
              <a:t>随机组合</a:t>
            </a:r>
            <a:r>
              <a:rPr lang="zh-CN" altLang="en-US" sz="2400" b="1" dirty="0"/>
              <a:t>：</a:t>
            </a:r>
            <a:r>
              <a:rPr lang="zh-CN" altLang="zh-CN" sz="2400" dirty="0"/>
              <a:t>加法</a:t>
            </a:r>
            <a:r>
              <a:rPr lang="en-US" altLang="zh-CN" sz="2400" dirty="0"/>
              <a:t>/</a:t>
            </a:r>
            <a:r>
              <a:rPr lang="zh-CN" altLang="zh-CN" sz="2400" dirty="0"/>
              <a:t>乘法混合</a:t>
            </a:r>
          </a:p>
          <a:p>
            <a:pPr lvl="0"/>
            <a:r>
              <a:rPr lang="en-US" altLang="zh-CN" sz="2400" b="1" dirty="0"/>
              <a:t>3. </a:t>
            </a:r>
            <a:r>
              <a:rPr lang="zh-CN" altLang="zh-CN" sz="2400" b="1" dirty="0"/>
              <a:t>数据生成</a:t>
            </a:r>
            <a:r>
              <a:rPr lang="zh-CN" altLang="en-US" sz="2400" b="1" dirty="0"/>
              <a:t>：</a:t>
            </a:r>
            <a:r>
              <a:rPr lang="zh-CN" altLang="zh-CN" sz="2400" dirty="0"/>
              <a:t>高斯过程</a:t>
            </a:r>
            <a:r>
              <a:rPr lang="zh-CN" altLang="en-US" sz="2400" dirty="0"/>
              <a:t>生成新的时序数据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43751" y="811288"/>
            <a:ext cx="9229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T5</a:t>
            </a:r>
            <a:r>
              <a:rPr lang="zh-CN" altLang="en-US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模型架构</a:t>
            </a:r>
            <a:r>
              <a:rPr lang="en-US" altLang="zh-CN" sz="36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en-US" altLang="zh-CN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Transfer Text-to-Text Transformer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 </a:t>
            </a:r>
            <a:endParaRPr lang="zh-CN" altLang="en-US" sz="28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l="5684" r="4222"/>
          <a:stretch>
            <a:fillRect/>
          </a:stretch>
        </p:blipFill>
        <p:spPr>
          <a:xfrm>
            <a:off x="3022679" y="2199697"/>
            <a:ext cx="7871167" cy="2834259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453621" y="5224774"/>
            <a:ext cx="9009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400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在下游任务上对模型</a:t>
            </a:r>
            <a:r>
              <a:rPr lang="zh-CN" altLang="en-US" sz="2400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进行微调的过程当中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，为了告诉模型当前要做何种任务，会给每条输入样本加一个与具体任务相关的前缀。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翻译前缀</a:t>
            </a:r>
            <a:r>
              <a:rPr lang="zh-CN" altLang="en-US" sz="2400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，例如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translate English to German: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分类前缀</a:t>
            </a:r>
            <a:r>
              <a:rPr lang="zh-CN" altLang="en-US" sz="2400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，例如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cola sentence: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xxx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343751" y="1487873"/>
            <a:ext cx="94855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T5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是一种预训练的通用模型，该模型将所有自然语言问题都转化成文本到文本的形式，并用一个统一的模型解决。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03727" y="411319"/>
            <a:ext cx="2705532" cy="368157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123942" y="3625193"/>
            <a:ext cx="421536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模型架构设计</a:t>
            </a:r>
            <a:endParaRPr lang="en-US" altLang="zh-CN" sz="2800" b="1" dirty="0">
              <a:solidFill>
                <a:srgbClr val="191B1F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 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原文尝试了三种不同的架构进行了实验，并最终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采用经典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transformer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Encoder-Decoder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结构。</a:t>
            </a:r>
            <a:endParaRPr lang="en-US" altLang="zh-CN" dirty="0">
              <a:solidFill>
                <a:srgbClr val="191B1F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 Encoder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部分采用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全可见掩码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Decoder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部分则采用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因果掩码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en-US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9432" y="1146278"/>
            <a:ext cx="5123989" cy="210698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079056" y="3173320"/>
            <a:ext cx="604488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191B1F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注意力掩码</a:t>
            </a:r>
            <a:endParaRPr lang="en-US" altLang="zh-CN" sz="2800" b="1" i="0" dirty="0">
              <a:solidFill>
                <a:srgbClr val="191B1F"/>
              </a:solidFill>
              <a:effectLst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 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全可见掩码 </a:t>
            </a:r>
          </a:p>
          <a:p>
            <a:pPr hangingPunct="0"/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在计算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每个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输出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y</a:t>
            </a:r>
            <a:r>
              <a:rPr lang="en-US" altLang="zh-CN" baseline="-250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时，都可以获取到整个输入序列 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[x₁, x₂, ..., xₙ]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的全部信息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 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因果掩码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在计算输出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y</a:t>
            </a:r>
            <a:r>
              <a:rPr lang="en-US" altLang="zh-CN" baseline="-250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时，模型只能关注到当前位置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以及之前的所有位置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j &lt;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它被禁止访问任何“未来”的信息</a:t>
            </a:r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j &gt;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 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en-US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3. </a:t>
            </a:r>
            <a:r>
              <a:rPr lang="en-US" altLang="zh-CN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带前缀的因果掩码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hangingPunct="0"/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将输入序列分为两部分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r>
              <a:rPr lang="zh-CN" altLang="zh-CN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对于前缀部分，应用全可见掩码规则，而对于目标序列部分，应用因果掩码规则</a:t>
            </a:r>
            <a:r>
              <a:rPr lang="zh-CN" altLang="en-US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zh-CN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43751" y="811288"/>
            <a:ext cx="9229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T5</a:t>
            </a:r>
            <a:r>
              <a:rPr lang="zh-CN" altLang="en-US" sz="32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模型架构</a:t>
            </a:r>
            <a:r>
              <a:rPr lang="en-US" altLang="zh-CN" sz="36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en-US" altLang="zh-CN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Transfer Text-to-Text Transformer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 </a:t>
            </a:r>
            <a:endParaRPr lang="zh-CN" altLang="en-US" sz="28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 rot="10800000" flipV="1">
            <a:off x="2339908" y="781477"/>
            <a:ext cx="933553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改进</a:t>
            </a:r>
            <a:r>
              <a:rPr lang="en-US" altLang="zh-CN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Smote</a:t>
            </a:r>
            <a:r>
              <a:rPr lang="zh-CN" altLang="en-US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过采样</a:t>
            </a:r>
          </a:p>
          <a:p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Smote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过采样算法只能对二维数据进行过采样，在多模态条件下无法使用，因此本实验对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Smote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算法进行了一定的修改，流程如下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​​特征合成​​：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对于维度取平均，生成新特征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​​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SMOTE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处理​​：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对合成特征运行过采样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3.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​​时序重构​​：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找到最近邻的均值，采用对应原始时序数据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596" y="3706643"/>
            <a:ext cx="10078258" cy="28847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343751" y="811288"/>
            <a:ext cx="922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整体模型架构</a:t>
            </a:r>
            <a:endParaRPr lang="zh-CN" altLang="en-US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751" y="1883662"/>
            <a:ext cx="9573631" cy="4056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3181545" y="1538599"/>
            <a:ext cx="3323499" cy="5248281"/>
          </a:xfrm>
          <a:custGeom>
            <a:avLst/>
            <a:gdLst>
              <a:gd name="connsiteX0" fmla="*/ 0 w 2655093"/>
              <a:gd name="connsiteY0" fmla="*/ 265509 h 5418667"/>
              <a:gd name="connsiteX1" fmla="*/ 265509 w 2655093"/>
              <a:gd name="connsiteY1" fmla="*/ 0 h 5418667"/>
              <a:gd name="connsiteX2" fmla="*/ 2389584 w 2655093"/>
              <a:gd name="connsiteY2" fmla="*/ 0 h 5418667"/>
              <a:gd name="connsiteX3" fmla="*/ 2655093 w 2655093"/>
              <a:gd name="connsiteY3" fmla="*/ 265509 h 5418667"/>
              <a:gd name="connsiteX4" fmla="*/ 2655093 w 2655093"/>
              <a:gd name="connsiteY4" fmla="*/ 5153158 h 5418667"/>
              <a:gd name="connsiteX5" fmla="*/ 2389584 w 2655093"/>
              <a:gd name="connsiteY5" fmla="*/ 5418667 h 5418667"/>
              <a:gd name="connsiteX6" fmla="*/ 265509 w 2655093"/>
              <a:gd name="connsiteY6" fmla="*/ 5418667 h 5418667"/>
              <a:gd name="connsiteX7" fmla="*/ 0 w 2655093"/>
              <a:gd name="connsiteY7" fmla="*/ 5153158 h 5418667"/>
              <a:gd name="connsiteX8" fmla="*/ 0 w 2655093"/>
              <a:gd name="connsiteY8" fmla="*/ 26550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5093" h="5418667">
                <a:moveTo>
                  <a:pt x="0" y="265509"/>
                </a:moveTo>
                <a:cubicBezTo>
                  <a:pt x="0" y="118872"/>
                  <a:pt x="118872" y="0"/>
                  <a:pt x="265509" y="0"/>
                </a:cubicBezTo>
                <a:lnTo>
                  <a:pt x="2389584" y="0"/>
                </a:lnTo>
                <a:cubicBezTo>
                  <a:pt x="2536221" y="0"/>
                  <a:pt x="2655093" y="118872"/>
                  <a:pt x="2655093" y="265509"/>
                </a:cubicBezTo>
                <a:lnTo>
                  <a:pt x="2655093" y="5153158"/>
                </a:lnTo>
                <a:cubicBezTo>
                  <a:pt x="2655093" y="5299795"/>
                  <a:pt x="2536221" y="5418667"/>
                  <a:pt x="2389584" y="5418667"/>
                </a:cubicBezTo>
                <a:lnTo>
                  <a:pt x="265509" y="5418667"/>
                </a:lnTo>
                <a:cubicBezTo>
                  <a:pt x="118872" y="5418667"/>
                  <a:pt x="0" y="5299795"/>
                  <a:pt x="0" y="5153158"/>
                </a:cubicBezTo>
                <a:lnTo>
                  <a:pt x="0" y="26550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3832" tIns="2601298" rIns="433832" bIns="1517567" numCol="1" spcCol="1270" anchor="ctr" anchorCtr="0">
            <a:noAutofit/>
          </a:bodyPr>
          <a:lstStyle/>
          <a:p>
            <a:pPr marL="0" lvl="0" indent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100" kern="1200"/>
          </a:p>
        </p:txBody>
      </p:sp>
      <p:sp>
        <p:nvSpPr>
          <p:cNvPr id="2" name="文本框 1"/>
          <p:cNvSpPr txBox="1"/>
          <p:nvPr/>
        </p:nvSpPr>
        <p:spPr>
          <a:xfrm>
            <a:off x="3973131" y="1187063"/>
            <a:ext cx="1605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" panose="02020603050405020304"/>
                <a:cs typeface="Times" panose="02020603050405020304"/>
              </a:rPr>
              <a:t>死亡分类</a:t>
            </a:r>
            <a:endParaRPr lang="en-US" sz="2000" b="1" dirty="0">
              <a:latin typeface="Times" panose="02020603050405020304"/>
              <a:cs typeface="Times" panose="020206030504050203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43751" y="811288"/>
            <a:ext cx="922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实验结果</a:t>
            </a:r>
            <a:endParaRPr lang="zh-CN" altLang="en-US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7603191" y="1538599"/>
            <a:ext cx="3323499" cy="5248281"/>
          </a:xfrm>
          <a:custGeom>
            <a:avLst/>
            <a:gdLst>
              <a:gd name="connsiteX0" fmla="*/ 0 w 2655093"/>
              <a:gd name="connsiteY0" fmla="*/ 265509 h 5418667"/>
              <a:gd name="connsiteX1" fmla="*/ 265509 w 2655093"/>
              <a:gd name="connsiteY1" fmla="*/ 0 h 5418667"/>
              <a:gd name="connsiteX2" fmla="*/ 2389584 w 2655093"/>
              <a:gd name="connsiteY2" fmla="*/ 0 h 5418667"/>
              <a:gd name="connsiteX3" fmla="*/ 2655093 w 2655093"/>
              <a:gd name="connsiteY3" fmla="*/ 265509 h 5418667"/>
              <a:gd name="connsiteX4" fmla="*/ 2655093 w 2655093"/>
              <a:gd name="connsiteY4" fmla="*/ 5153158 h 5418667"/>
              <a:gd name="connsiteX5" fmla="*/ 2389584 w 2655093"/>
              <a:gd name="connsiteY5" fmla="*/ 5418667 h 5418667"/>
              <a:gd name="connsiteX6" fmla="*/ 265509 w 2655093"/>
              <a:gd name="connsiteY6" fmla="*/ 5418667 h 5418667"/>
              <a:gd name="connsiteX7" fmla="*/ 0 w 2655093"/>
              <a:gd name="connsiteY7" fmla="*/ 5153158 h 5418667"/>
              <a:gd name="connsiteX8" fmla="*/ 0 w 2655093"/>
              <a:gd name="connsiteY8" fmla="*/ 26550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5093" h="5418667">
                <a:moveTo>
                  <a:pt x="0" y="265509"/>
                </a:moveTo>
                <a:cubicBezTo>
                  <a:pt x="0" y="118872"/>
                  <a:pt x="118872" y="0"/>
                  <a:pt x="265509" y="0"/>
                </a:cubicBezTo>
                <a:lnTo>
                  <a:pt x="2389584" y="0"/>
                </a:lnTo>
                <a:cubicBezTo>
                  <a:pt x="2536221" y="0"/>
                  <a:pt x="2655093" y="118872"/>
                  <a:pt x="2655093" y="265509"/>
                </a:cubicBezTo>
                <a:lnTo>
                  <a:pt x="2655093" y="5153158"/>
                </a:lnTo>
                <a:cubicBezTo>
                  <a:pt x="2655093" y="5299795"/>
                  <a:pt x="2536221" y="5418667"/>
                  <a:pt x="2389584" y="5418667"/>
                </a:cubicBezTo>
                <a:lnTo>
                  <a:pt x="265509" y="5418667"/>
                </a:lnTo>
                <a:cubicBezTo>
                  <a:pt x="118872" y="5418667"/>
                  <a:pt x="0" y="5299795"/>
                  <a:pt x="0" y="5153158"/>
                </a:cubicBezTo>
                <a:lnTo>
                  <a:pt x="0" y="26550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3832" tIns="2601298" rIns="433832" bIns="1517567" numCol="1" spcCol="1270" anchor="ctr" anchorCtr="0">
            <a:noAutofit/>
          </a:bodyPr>
          <a:lstStyle/>
          <a:p>
            <a:pPr marL="0" lvl="0" indent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100" kern="1200"/>
          </a:p>
        </p:txBody>
      </p:sp>
      <p:sp>
        <p:nvSpPr>
          <p:cNvPr id="18" name="文本框 17"/>
          <p:cNvSpPr txBox="1"/>
          <p:nvPr/>
        </p:nvSpPr>
        <p:spPr>
          <a:xfrm>
            <a:off x="8237118" y="1187063"/>
            <a:ext cx="2055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" panose="02020603050405020304"/>
                <a:cs typeface="Times" panose="02020603050405020304"/>
              </a:rPr>
              <a:t>住院时长分类</a:t>
            </a:r>
            <a:endParaRPr lang="en-US" sz="2000" b="1" dirty="0">
              <a:latin typeface="Times" panose="02020603050405020304"/>
              <a:cs typeface="Times" panose="02020603050405020304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AAB506B-C98F-933B-1922-33823F701B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098" y="1666537"/>
            <a:ext cx="3240000" cy="24300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8D0A25E-3D64-DF9F-4723-A9E66C9EFC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07" y="1666537"/>
            <a:ext cx="3240000" cy="2430000"/>
          </a:xfrm>
          <a:prstGeom prst="rect">
            <a:avLst/>
          </a:prstGeom>
        </p:spPr>
      </p:pic>
      <p:pic>
        <p:nvPicPr>
          <p:cNvPr id="38" name="图片 37" descr="图表, 折线图&#10;&#10;AI 生成的内容可能不正确。">
            <a:extLst>
              <a:ext uri="{FF2B5EF4-FFF2-40B4-BE49-F238E27FC236}">
                <a16:creationId xmlns:a16="http://schemas.microsoft.com/office/drawing/2014/main" id="{96C45BB0-7E91-CDFF-5CDC-5AE6FD689B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098" y="4224475"/>
            <a:ext cx="3240000" cy="2430000"/>
          </a:xfrm>
          <a:prstGeom prst="rect">
            <a:avLst/>
          </a:prstGeom>
        </p:spPr>
      </p:pic>
      <p:pic>
        <p:nvPicPr>
          <p:cNvPr id="40" name="图片 39" descr="图表, 折线图&#10;&#10;AI 生成的内容可能不正确。">
            <a:extLst>
              <a:ext uri="{FF2B5EF4-FFF2-40B4-BE49-F238E27FC236}">
                <a16:creationId xmlns:a16="http://schemas.microsoft.com/office/drawing/2014/main" id="{8B0AAF1D-0F10-5B5D-EA85-61B7C44898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07" y="4224475"/>
            <a:ext cx="3240000" cy="243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-9625" y="-9625"/>
            <a:ext cx="1732547" cy="6872400"/>
          </a:xfrm>
          <a:custGeom>
            <a:avLst/>
            <a:gdLst>
              <a:gd name="connsiteX0" fmla="*/ 866273 w 1732547"/>
              <a:gd name="connsiteY0" fmla="*/ 356135 h 6872400"/>
              <a:gd name="connsiteX1" fmla="*/ 235818 w 1732547"/>
              <a:gd name="connsiteY1" fmla="*/ 986135 h 6872400"/>
              <a:gd name="connsiteX2" fmla="*/ 866273 w 1732547"/>
              <a:gd name="connsiteY2" fmla="*/ 1616135 h 6872400"/>
              <a:gd name="connsiteX3" fmla="*/ 1496728 w 1732547"/>
              <a:gd name="connsiteY3" fmla="*/ 986135 h 6872400"/>
              <a:gd name="connsiteX4" fmla="*/ 866273 w 1732547"/>
              <a:gd name="connsiteY4" fmla="*/ 356135 h 6872400"/>
              <a:gd name="connsiteX5" fmla="*/ 0 w 1732547"/>
              <a:gd name="connsiteY5" fmla="*/ 0 h 6872400"/>
              <a:gd name="connsiteX6" fmla="*/ 1732547 w 1732547"/>
              <a:gd name="connsiteY6" fmla="*/ 0 h 6872400"/>
              <a:gd name="connsiteX7" fmla="*/ 1732547 w 1732547"/>
              <a:gd name="connsiteY7" fmla="*/ 6872400 h 6872400"/>
              <a:gd name="connsiteX8" fmla="*/ 0 w 1732547"/>
              <a:gd name="connsiteY8" fmla="*/ 687240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2547" h="6872400">
                <a:moveTo>
                  <a:pt x="866273" y="356135"/>
                </a:moveTo>
                <a:cubicBezTo>
                  <a:pt x="518082" y="356135"/>
                  <a:pt x="235818" y="638196"/>
                  <a:pt x="235818" y="986135"/>
                </a:cubicBezTo>
                <a:cubicBezTo>
                  <a:pt x="235818" y="1334074"/>
                  <a:pt x="518082" y="1616135"/>
                  <a:pt x="866273" y="1616135"/>
                </a:cubicBezTo>
                <a:cubicBezTo>
                  <a:pt x="1214464" y="1616135"/>
                  <a:pt x="1496728" y="1334074"/>
                  <a:pt x="1496728" y="986135"/>
                </a:cubicBezTo>
                <a:cubicBezTo>
                  <a:pt x="1496728" y="638196"/>
                  <a:pt x="1214464" y="356135"/>
                  <a:pt x="866273" y="356135"/>
                </a:cubicBezTo>
                <a:close/>
                <a:moveTo>
                  <a:pt x="0" y="0"/>
                </a:moveTo>
                <a:lnTo>
                  <a:pt x="1732547" y="0"/>
                </a:lnTo>
                <a:lnTo>
                  <a:pt x="1732547" y="6872400"/>
                </a:lnTo>
                <a:lnTo>
                  <a:pt x="0" y="6872400"/>
                </a:lnTo>
                <a:close/>
              </a:path>
            </a:pathLst>
          </a:custGeom>
          <a:solidFill>
            <a:srgbClr val="0A264C">
              <a:alpha val="81000"/>
            </a:srgbClr>
          </a:solidFill>
          <a:ln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878" y="387379"/>
            <a:ext cx="1499662" cy="11512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516" y="4295256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测试分析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49" y="5267384"/>
            <a:ext cx="182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不足及展望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636293" y="9625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-9625" y="2449593"/>
            <a:ext cx="2079057" cy="1620060"/>
            <a:chOff x="-9625" y="2064582"/>
            <a:chExt cx="2079057" cy="1620060"/>
          </a:xfrm>
        </p:grpSpPr>
        <p:sp>
          <p:nvSpPr>
            <p:cNvPr id="11" name="箭头: 五边形 10"/>
            <p:cNvSpPr/>
            <p:nvPr/>
          </p:nvSpPr>
          <p:spPr>
            <a:xfrm>
              <a:off x="-9625" y="2953122"/>
              <a:ext cx="2079057" cy="731520"/>
            </a:xfrm>
            <a:prstGeom prst="homePlate">
              <a:avLst/>
            </a:prstGeom>
            <a:solidFill>
              <a:srgbClr val="0A26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49" y="2064582"/>
              <a:ext cx="1732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数据集介绍</a:t>
              </a:r>
              <a:endParaRPr 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079057" y="155898"/>
            <a:ext cx="529389" cy="529200"/>
          </a:xfrm>
          <a:prstGeom prst="rect">
            <a:avLst/>
          </a:prstGeom>
          <a:noFill/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52838" y="490888"/>
            <a:ext cx="320400" cy="320400"/>
          </a:xfrm>
          <a:prstGeom prst="rect">
            <a:avLst/>
          </a:prstGeom>
          <a:solidFill>
            <a:srgbClr val="0A264C"/>
          </a:solidFill>
          <a:ln w="19050">
            <a:solidFill>
              <a:srgbClr val="0A2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73238" y="811288"/>
            <a:ext cx="890220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7049" y="3450120"/>
            <a:ext cx="155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模型构建</a:t>
            </a:r>
            <a:endParaRPr 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43751" y="811288"/>
            <a:ext cx="922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实验结果</a:t>
            </a:r>
            <a:endParaRPr lang="zh-CN" altLang="en-US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3115442" y="1538599"/>
            <a:ext cx="3323499" cy="5248281"/>
          </a:xfrm>
          <a:custGeom>
            <a:avLst/>
            <a:gdLst>
              <a:gd name="connsiteX0" fmla="*/ 0 w 2655093"/>
              <a:gd name="connsiteY0" fmla="*/ 265509 h 5418667"/>
              <a:gd name="connsiteX1" fmla="*/ 265509 w 2655093"/>
              <a:gd name="connsiteY1" fmla="*/ 0 h 5418667"/>
              <a:gd name="connsiteX2" fmla="*/ 2389584 w 2655093"/>
              <a:gd name="connsiteY2" fmla="*/ 0 h 5418667"/>
              <a:gd name="connsiteX3" fmla="*/ 2655093 w 2655093"/>
              <a:gd name="connsiteY3" fmla="*/ 265509 h 5418667"/>
              <a:gd name="connsiteX4" fmla="*/ 2655093 w 2655093"/>
              <a:gd name="connsiteY4" fmla="*/ 5153158 h 5418667"/>
              <a:gd name="connsiteX5" fmla="*/ 2389584 w 2655093"/>
              <a:gd name="connsiteY5" fmla="*/ 5418667 h 5418667"/>
              <a:gd name="connsiteX6" fmla="*/ 265509 w 2655093"/>
              <a:gd name="connsiteY6" fmla="*/ 5418667 h 5418667"/>
              <a:gd name="connsiteX7" fmla="*/ 0 w 2655093"/>
              <a:gd name="connsiteY7" fmla="*/ 5153158 h 5418667"/>
              <a:gd name="connsiteX8" fmla="*/ 0 w 2655093"/>
              <a:gd name="connsiteY8" fmla="*/ 26550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5093" h="5418667">
                <a:moveTo>
                  <a:pt x="0" y="265509"/>
                </a:moveTo>
                <a:cubicBezTo>
                  <a:pt x="0" y="118872"/>
                  <a:pt x="118872" y="0"/>
                  <a:pt x="265509" y="0"/>
                </a:cubicBezTo>
                <a:lnTo>
                  <a:pt x="2389584" y="0"/>
                </a:lnTo>
                <a:cubicBezTo>
                  <a:pt x="2536221" y="0"/>
                  <a:pt x="2655093" y="118872"/>
                  <a:pt x="2655093" y="265509"/>
                </a:cubicBezTo>
                <a:lnTo>
                  <a:pt x="2655093" y="5153158"/>
                </a:lnTo>
                <a:cubicBezTo>
                  <a:pt x="2655093" y="5299795"/>
                  <a:pt x="2536221" y="5418667"/>
                  <a:pt x="2389584" y="5418667"/>
                </a:cubicBezTo>
                <a:lnTo>
                  <a:pt x="265509" y="5418667"/>
                </a:lnTo>
                <a:cubicBezTo>
                  <a:pt x="118872" y="5418667"/>
                  <a:pt x="0" y="5299795"/>
                  <a:pt x="0" y="5153158"/>
                </a:cubicBezTo>
                <a:lnTo>
                  <a:pt x="0" y="26550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3832" tIns="2601298" rIns="433832" bIns="1517567" numCol="1" spcCol="1270" anchor="ctr" anchorCtr="0">
            <a:noAutofit/>
          </a:bodyPr>
          <a:lstStyle/>
          <a:p>
            <a:pPr marL="0" lvl="0" indent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100" kern="1200"/>
          </a:p>
        </p:txBody>
      </p:sp>
      <p:sp>
        <p:nvSpPr>
          <p:cNvPr id="3" name="文本框 2"/>
          <p:cNvSpPr txBox="1"/>
          <p:nvPr/>
        </p:nvSpPr>
        <p:spPr>
          <a:xfrm>
            <a:off x="3907028" y="1187063"/>
            <a:ext cx="1605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" panose="02020603050405020304"/>
                <a:cs typeface="Times" panose="02020603050405020304"/>
              </a:rPr>
              <a:t>死亡分类</a:t>
            </a:r>
            <a:endParaRPr lang="en-US" sz="2000" b="1" dirty="0">
              <a:latin typeface="Times" panose="02020603050405020304"/>
              <a:cs typeface="Times" panose="02020603050405020304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7567559" y="1538599"/>
            <a:ext cx="3323499" cy="5248281"/>
          </a:xfrm>
          <a:custGeom>
            <a:avLst/>
            <a:gdLst>
              <a:gd name="connsiteX0" fmla="*/ 0 w 2655093"/>
              <a:gd name="connsiteY0" fmla="*/ 265509 h 5418667"/>
              <a:gd name="connsiteX1" fmla="*/ 265509 w 2655093"/>
              <a:gd name="connsiteY1" fmla="*/ 0 h 5418667"/>
              <a:gd name="connsiteX2" fmla="*/ 2389584 w 2655093"/>
              <a:gd name="connsiteY2" fmla="*/ 0 h 5418667"/>
              <a:gd name="connsiteX3" fmla="*/ 2655093 w 2655093"/>
              <a:gd name="connsiteY3" fmla="*/ 265509 h 5418667"/>
              <a:gd name="connsiteX4" fmla="*/ 2655093 w 2655093"/>
              <a:gd name="connsiteY4" fmla="*/ 5153158 h 5418667"/>
              <a:gd name="connsiteX5" fmla="*/ 2389584 w 2655093"/>
              <a:gd name="connsiteY5" fmla="*/ 5418667 h 5418667"/>
              <a:gd name="connsiteX6" fmla="*/ 265509 w 2655093"/>
              <a:gd name="connsiteY6" fmla="*/ 5418667 h 5418667"/>
              <a:gd name="connsiteX7" fmla="*/ 0 w 2655093"/>
              <a:gd name="connsiteY7" fmla="*/ 5153158 h 5418667"/>
              <a:gd name="connsiteX8" fmla="*/ 0 w 2655093"/>
              <a:gd name="connsiteY8" fmla="*/ 26550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5093" h="5418667">
                <a:moveTo>
                  <a:pt x="0" y="265509"/>
                </a:moveTo>
                <a:cubicBezTo>
                  <a:pt x="0" y="118872"/>
                  <a:pt x="118872" y="0"/>
                  <a:pt x="265509" y="0"/>
                </a:cubicBezTo>
                <a:lnTo>
                  <a:pt x="2389584" y="0"/>
                </a:lnTo>
                <a:cubicBezTo>
                  <a:pt x="2536221" y="0"/>
                  <a:pt x="2655093" y="118872"/>
                  <a:pt x="2655093" y="265509"/>
                </a:cubicBezTo>
                <a:lnTo>
                  <a:pt x="2655093" y="5153158"/>
                </a:lnTo>
                <a:cubicBezTo>
                  <a:pt x="2655093" y="5299795"/>
                  <a:pt x="2536221" y="5418667"/>
                  <a:pt x="2389584" y="5418667"/>
                </a:cubicBezTo>
                <a:lnTo>
                  <a:pt x="265509" y="5418667"/>
                </a:lnTo>
                <a:cubicBezTo>
                  <a:pt x="118872" y="5418667"/>
                  <a:pt x="0" y="5299795"/>
                  <a:pt x="0" y="5153158"/>
                </a:cubicBezTo>
                <a:lnTo>
                  <a:pt x="0" y="26550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3832" tIns="2601298" rIns="433832" bIns="1517567" numCol="1" spcCol="1270" anchor="ctr" anchorCtr="0">
            <a:noAutofit/>
          </a:bodyPr>
          <a:lstStyle/>
          <a:p>
            <a:pPr marL="0" lvl="0" indent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100" kern="1200"/>
          </a:p>
        </p:txBody>
      </p:sp>
      <p:sp>
        <p:nvSpPr>
          <p:cNvPr id="16" name="文本框 15"/>
          <p:cNvSpPr txBox="1"/>
          <p:nvPr/>
        </p:nvSpPr>
        <p:spPr>
          <a:xfrm>
            <a:off x="8218339" y="1187063"/>
            <a:ext cx="2055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" panose="02020603050405020304"/>
                <a:cs typeface="Times" panose="02020603050405020304"/>
              </a:rPr>
              <a:t>住院时长分类</a:t>
            </a:r>
            <a:endParaRPr lang="en-US" sz="2000" b="1" dirty="0">
              <a:latin typeface="Times" panose="02020603050405020304"/>
              <a:cs typeface="Times" panose="02020603050405020304"/>
            </a:endParaRPr>
          </a:p>
        </p:txBody>
      </p:sp>
      <p:pic>
        <p:nvPicPr>
          <p:cNvPr id="23" name="图片 22" descr="图表, 折线图&#10;&#10;AI 生成的内容可能不正确。">
            <a:extLst>
              <a:ext uri="{FF2B5EF4-FFF2-40B4-BE49-F238E27FC236}">
                <a16:creationId xmlns:a16="http://schemas.microsoft.com/office/drawing/2014/main" id="{67A9ADB3-E5FB-14BC-CB58-81138D865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191" y="1587173"/>
            <a:ext cx="3240000" cy="2430000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C39F8AC0-6900-DCA5-434A-20C36AEABE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308" y="1587173"/>
            <a:ext cx="3240000" cy="2430000"/>
          </a:xfrm>
          <a:prstGeom prst="rect">
            <a:avLst/>
          </a:prstGeom>
        </p:spPr>
      </p:pic>
      <p:pic>
        <p:nvPicPr>
          <p:cNvPr id="30" name="图片 29" descr="图表, 直方图&#10;&#10;AI 生成的内容可能不正确。">
            <a:extLst>
              <a:ext uri="{FF2B5EF4-FFF2-40B4-BE49-F238E27FC236}">
                <a16:creationId xmlns:a16="http://schemas.microsoft.com/office/drawing/2014/main" id="{9712DD42-851E-6CA3-D5B9-A7662DB495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191" y="4205195"/>
            <a:ext cx="3240000" cy="2430000"/>
          </a:xfrm>
          <a:prstGeom prst="rect">
            <a:avLst/>
          </a:prstGeom>
        </p:spPr>
      </p:pic>
      <p:pic>
        <p:nvPicPr>
          <p:cNvPr id="33" name="图片 32" descr="图表, 直方图&#10;&#10;AI 生成的内容可能不正确。">
            <a:extLst>
              <a:ext uri="{FF2B5EF4-FFF2-40B4-BE49-F238E27FC236}">
                <a16:creationId xmlns:a16="http://schemas.microsoft.com/office/drawing/2014/main" id="{4363796F-A7A5-9FA1-4425-AE5FF52657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161" y="4205195"/>
            <a:ext cx="3240000" cy="243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77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5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2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5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3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2462_5*l_h_i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2462_5*l_h_f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2462_5*l_h_a*1_5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5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62_5*l_h_f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62_5*l_h_a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6.8999938964844,&quot;left&quot;:169.97796020507812,&quot;top&quot;:126.95000305175782,&quot;width&quot;:368.294079589843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754</Words>
  <Application>Microsoft Office PowerPoint</Application>
  <PresentationFormat>宽屏</PresentationFormat>
  <Paragraphs>125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等线</vt:lpstr>
      <vt:lpstr>等线 Light</vt:lpstr>
      <vt:lpstr>黑体</vt:lpstr>
      <vt:lpstr>华文行楷</vt:lpstr>
      <vt:lpstr>华文中宋</vt:lpstr>
      <vt:lpstr>思源黑体</vt:lpstr>
      <vt:lpstr>微软雅黑</vt:lpstr>
      <vt:lpstr>Arial</vt:lpstr>
      <vt:lpstr>Times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文杰 张</dc:creator>
  <cp:lastModifiedBy>zh j</cp:lastModifiedBy>
  <cp:revision>93</cp:revision>
  <dcterms:created xsi:type="dcterms:W3CDTF">2025-09-17T12:28:00Z</dcterms:created>
  <dcterms:modified xsi:type="dcterms:W3CDTF">2025-12-15T10:31:11Z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1F3C2E1CCB534296937B5248930BFA0D_13</vt:lpwstr>
  </property>
  <property fmtid="{D5CDD505-2E9C-101B-9397-08002B2CF9AE}" pid="3" name="KSOProductBuildVer">
    <vt:lpwstr>2052-12.1.0.22529</vt:lpwstr>
  </property>
</Properties>
</file>